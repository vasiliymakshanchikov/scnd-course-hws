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0" d="100"/>
          <a:sy n="60" d="100"/>
        </p:scale>
        <p:origin x="908" y="4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5A2DAC8-3F51-4A6D-A8F7-F4AFC13D4DC9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3C2FD41-59D4-4DC0-961A-FAE9C385C79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Домашнее задание 2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Часть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63772" y="-315359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800"/>
              <a:t>Анализ 3-х песен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5935" y="1733106"/>
            <a:ext cx="2927444" cy="421049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65635" y="1733106"/>
            <a:ext cx="3683482" cy="421049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678623" y="1275905"/>
            <a:ext cx="2807550" cy="51248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585935" y="776177"/>
            <a:ext cx="7633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Анализ 3х песен на русском языке: </a:t>
            </a:r>
            <a:r>
              <a:rPr lang="ru-RU"/>
              <a:t>В.Цой</a:t>
            </a:r>
            <a:r>
              <a:rPr lang="ru-RU"/>
              <a:t> – «Спокойная ночь», </a:t>
            </a:r>
            <a:r>
              <a:rPr lang="ru-RU"/>
              <a:t>В.Меладзе</a:t>
            </a:r>
            <a:r>
              <a:rPr lang="ru-RU"/>
              <a:t> – «</a:t>
            </a:r>
            <a:r>
              <a:rPr lang="ru-RU">
                <a:solidFill>
                  <a:srgbClr val="1F1F1F"/>
                </a:solidFill>
                <a:latin typeface="Arial"/>
              </a:rPr>
              <a:t>П</a:t>
            </a:r>
            <a:r>
              <a:rPr lang="ru-RU" b="0" i="0">
                <a:solidFill>
                  <a:srgbClr val="1F1F1F"/>
                </a:solidFill>
                <a:latin typeface="Arial"/>
              </a:rPr>
              <a:t>араллельные</a:t>
            </a:r>
            <a:r>
              <a:rPr lang="ru-RU"/>
              <a:t>», </a:t>
            </a:r>
            <a:r>
              <a:rPr lang="en-US"/>
              <a:t>Slava </a:t>
            </a:r>
            <a:r>
              <a:rPr lang="en-US"/>
              <a:t>Skripka</a:t>
            </a:r>
            <a:r>
              <a:rPr lang="en-US"/>
              <a:t> </a:t>
            </a:r>
            <a:r>
              <a:rPr lang="ru-RU"/>
              <a:t>– «Бобр»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5428" y="7804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600"/>
              <a:t>Метод </a:t>
            </a:r>
            <a:r>
              <a:rPr lang="en-US" sz="3600"/>
              <a:t>TF-IDF</a:t>
            </a:r>
            <a:endParaRPr lang="ru-RU" sz="36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1833" y="1252484"/>
            <a:ext cx="8657618" cy="435303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856328" y="1889613"/>
            <a:ext cx="1830471" cy="474148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09750" y="1889613"/>
            <a:ext cx="2322849" cy="4741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306571" y="5061096"/>
            <a:ext cx="11527464" cy="167939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400"/>
              <a:t>В визуализации TF-IDF преобладают слова только одной песни, это может быть связано с тем, что TF-IDF отдает предпочтение редким словам, которые встречаются только в одном тексте, в то время как общие слова между песнями получают низкий вес из-за IDF. 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933353" y="346957"/>
            <a:ext cx="8061251" cy="4346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68079" y="262639"/>
            <a:ext cx="10515600" cy="233170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/>
              <a:t>Длина выбранных песен не является одинаковой, для исправления ситуации можно проверить распределение TF-IDF по всем песням, используя </a:t>
            </a:r>
            <a:r>
              <a:rPr lang="ru-RU" sz="2000"/>
              <a:t>sublinear_tf</a:t>
            </a:r>
            <a:r>
              <a:rPr lang="ru-RU" sz="2000"/>
              <a:t>=True для сглаживания влияния длины текста.</a:t>
            </a:r>
            <a:endParaRPr/>
          </a:p>
          <a:p>
            <a:pPr>
              <a:defRPr/>
            </a:pPr>
            <a:r>
              <a:rPr lang="ru-RU" sz="2000"/>
              <a:t>На результат это не сильно повлияло: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17428" y="1895741"/>
            <a:ext cx="7757143" cy="43633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69850" y="0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Метод </a:t>
            </a:r>
            <a:r>
              <a:rPr lang="en-US" sz="4000"/>
              <a:t>Word2Vec</a:t>
            </a:r>
            <a:endParaRPr lang="ru-RU" sz="40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9850" y="2198129"/>
            <a:ext cx="10196623" cy="4060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5390707" y="233802"/>
            <a:ext cx="53907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Word2Vec показывает семантические связи между словами, представляя их в виде многомерных векторов. 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69850" y="1392514"/>
            <a:ext cx="10111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t-SNE </a:t>
            </a:r>
            <a:r>
              <a:rPr lang="ru-RU"/>
              <a:t>визуализация: чем ближе слова, тем более схожи они по смыслу. Но на данном графике очень тяжело найти семантическую схожесть между словами, находящимися вблизи друг от друга.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97957" y="241374"/>
            <a:ext cx="10515600" cy="1034533"/>
          </a:xfrm>
        </p:spPr>
        <p:txBody>
          <a:bodyPr/>
          <a:lstStyle/>
          <a:p>
            <a:pPr>
              <a:defRPr/>
            </a:pPr>
            <a:r>
              <a:rPr lang="ru-RU"/>
              <a:t>Облако слов (</a:t>
            </a:r>
            <a:r>
              <a:rPr lang="ru-RU"/>
              <a:t>WordCloud</a:t>
            </a:r>
            <a:r>
              <a:rPr lang="ru-RU"/>
              <a:t>): размер слов зависит от их частоты в тексте</a:t>
            </a:r>
            <a:endParaRPr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39198" y="926702"/>
            <a:ext cx="7293361" cy="5565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70368" y="-9207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600"/>
              <a:t>Метод: </a:t>
            </a:r>
            <a:r>
              <a:rPr lang="en-US" sz="3600"/>
              <a:t>CountVectorizer</a:t>
            </a:r>
            <a:endParaRPr lang="ru-RU" sz="36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99404" y="1749468"/>
            <a:ext cx="9586317" cy="4732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370367" y="988828"/>
            <a:ext cx="11070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В отличие от TF-IDF, который учитывает, как часто слово встречается во всех текстах и уменьшает вес часто встречающихся слов, </a:t>
            </a:r>
            <a:r>
              <a:rPr lang="ru-RU"/>
              <a:t>CountVectorizer</a:t>
            </a:r>
            <a:r>
              <a:rPr lang="ru-RU"/>
              <a:t> просто считает количество вхождений и не сильно отличается от </a:t>
            </a:r>
            <a:r>
              <a:rPr lang="en-US"/>
              <a:t>WordCloud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93651" y="528453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/>
              <a:t>После проведенных анализов можно сделать вывод, что все три метода векторизации — </a:t>
            </a:r>
            <a:r>
              <a:rPr lang="ru-RU" b="1"/>
              <a:t>TF-IDF</a:t>
            </a:r>
            <a:r>
              <a:rPr lang="ru-RU"/>
              <a:t>, </a:t>
            </a:r>
            <a:r>
              <a:rPr lang="ru-RU" b="1"/>
              <a:t>Word2Vec</a:t>
            </a:r>
            <a:r>
              <a:rPr lang="ru-RU"/>
              <a:t> и </a:t>
            </a:r>
            <a:r>
              <a:rPr lang="ru-RU" b="1"/>
              <a:t>CountVectorizer</a:t>
            </a:r>
            <a:r>
              <a:rPr lang="ru-RU"/>
              <a:t> — имеют свои ограничения, и каждый из них дал результаты, которые сложно интерпретировать однозначно.</a:t>
            </a:r>
            <a:endParaRPr lang="en-US"/>
          </a:p>
          <a:p>
            <a:pPr>
              <a:defRPr/>
            </a:pPr>
            <a:r>
              <a:rPr lang="ru-RU" b="1"/>
              <a:t>TF-IDF</a:t>
            </a:r>
            <a:r>
              <a:rPr lang="ru-RU"/>
              <a:t> в нашем случае показал излишнюю склонность к редким словам, а общие слова получили низкий вес.</a:t>
            </a:r>
            <a:endParaRPr/>
          </a:p>
          <a:p>
            <a:pPr marL="0" indent="0">
              <a:buNone/>
              <a:defRPr/>
            </a:pPr>
            <a:r>
              <a:rPr lang="ru-RU">
                <a:highlight>
                  <a:srgbClr val="FFFF00"/>
                </a:highlight>
              </a:rPr>
              <a:t>Время выполнения </a:t>
            </a:r>
            <a:r>
              <a:rPr lang="en-US">
                <a:highlight>
                  <a:srgbClr val="FFFF00"/>
                </a:highlight>
              </a:rPr>
              <a:t>TF-IDF : 0.0076 </a:t>
            </a:r>
            <a:r>
              <a:rPr lang="ru-RU">
                <a:highlight>
                  <a:srgbClr val="FFFF00"/>
                </a:highlight>
              </a:rPr>
              <a:t>секунд</a:t>
            </a:r>
            <a:endParaRPr/>
          </a:p>
          <a:p>
            <a:pPr>
              <a:defRPr/>
            </a:pPr>
            <a:r>
              <a:rPr lang="en-US" b="1"/>
              <a:t>Word2Vec</a:t>
            </a:r>
            <a:r>
              <a:rPr lang="en-US"/>
              <a:t> </a:t>
            </a:r>
            <a:r>
              <a:rPr lang="ru-RU"/>
              <a:t>показал похожие проблемы, оказалось тяжело интерпретировать, какие именно семантические связи модель уловила, и т-SNE визуализация тоже не дала четкого понимания того, какие слова связаны, а какие — нет.</a:t>
            </a:r>
            <a:endParaRPr/>
          </a:p>
          <a:p>
            <a:pPr marL="0" indent="0">
              <a:buNone/>
              <a:defRPr/>
            </a:pPr>
            <a:r>
              <a:rPr lang="ru-RU">
                <a:highlight>
                  <a:srgbClr val="FFFF00"/>
                </a:highlight>
              </a:rPr>
              <a:t>Время выполнения </a:t>
            </a:r>
            <a:r>
              <a:rPr lang="en-US">
                <a:highlight>
                  <a:srgbClr val="FFFF00"/>
                </a:highlight>
              </a:rPr>
              <a:t>word2vec: 0.0397</a:t>
            </a:r>
            <a:r>
              <a:rPr lang="ru-RU">
                <a:highlight>
                  <a:srgbClr val="FFFF00"/>
                </a:highlight>
              </a:rPr>
              <a:t> секунд</a:t>
            </a:r>
            <a:endParaRPr/>
          </a:p>
          <a:p>
            <a:pPr>
              <a:defRPr/>
            </a:pPr>
            <a:r>
              <a:rPr lang="ru-RU" b="1"/>
              <a:t>CountVectorizer</a:t>
            </a:r>
            <a:r>
              <a:rPr lang="ru-RU"/>
              <a:t> оказался наиболее логичным методом (к тому же самым быстрым), так как он просто считает частоту слов, что позволяет более прозрачно увидеть, какие слова встречаются чаще всего в текстах, что в целом можно использовать как дополнительную информацию о смысловой нагрузке текстов.</a:t>
            </a:r>
            <a:endParaRPr/>
          </a:p>
          <a:p>
            <a:pPr marL="0" indent="0">
              <a:buNone/>
              <a:defRPr/>
            </a:pPr>
            <a:r>
              <a:rPr lang="ru-RU">
                <a:highlight>
                  <a:srgbClr val="FFFF00"/>
                </a:highlight>
              </a:rPr>
              <a:t>Время выполнения </a:t>
            </a:r>
            <a:r>
              <a:rPr lang="en-US">
                <a:highlight>
                  <a:srgbClr val="FFFF00"/>
                </a:highlight>
              </a:rPr>
              <a:t>CountVectorizer</a:t>
            </a:r>
            <a:r>
              <a:rPr lang="en-US">
                <a:highlight>
                  <a:srgbClr val="FFFF00"/>
                </a:highlight>
              </a:rPr>
              <a:t> time: 0.0033 </a:t>
            </a:r>
            <a:r>
              <a:rPr lang="ru-RU">
                <a:highlight>
                  <a:srgbClr val="FFFF00"/>
                </a:highlight>
              </a:rPr>
              <a:t>секунд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Часть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221511" y="315802"/>
            <a:ext cx="10515600" cy="82188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Предобработка датасета: 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00615" y="1137684"/>
            <a:ext cx="8605351" cy="5539562"/>
          </a:xfrm>
          <a:prstGeom prst="rect">
            <a:avLst/>
          </a:prstGeom>
        </p:spPr>
      </p:pic>
      <p:cxnSp>
        <p:nvCxnSpPr>
          <p:cNvPr id="9" name="Прямая со стрелкой 8"/>
          <p:cNvCxnSpPr>
            <a:cxnSpLocks/>
          </p:cNvCxnSpPr>
          <p:nvPr/>
        </p:nvCxnSpPr>
        <p:spPr bwMode="auto">
          <a:xfrm flipV="1">
            <a:off x="7963786" y="3817088"/>
            <a:ext cx="1392865" cy="2126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cxnSpLocks/>
          </p:cNvCxnSpPr>
          <p:nvPr/>
        </p:nvCxnSpPr>
        <p:spPr bwMode="auto">
          <a:xfrm flipV="1">
            <a:off x="8041758" y="5404883"/>
            <a:ext cx="1392865" cy="2126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9434623" y="3306726"/>
            <a:ext cx="2505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До удаления тегов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9434623" y="5141877"/>
            <a:ext cx="2505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После удаления тегов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 bwMode="auto">
          <a:xfrm>
            <a:off x="106325" y="4033035"/>
            <a:ext cx="373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Далее </a:t>
            </a:r>
            <a:r>
              <a:rPr lang="ru-RU"/>
              <a:t>токенизируем</a:t>
            </a:r>
            <a:r>
              <a:rPr lang="ru-RU"/>
              <a:t> датасет: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6325" y="297165"/>
            <a:ext cx="3470211" cy="2317966"/>
          </a:xfrm>
          <a:prstGeom prst="rect">
            <a:avLst/>
          </a:prstGeom>
        </p:spPr>
      </p:pic>
      <p:cxnSp>
        <p:nvCxnSpPr>
          <p:cNvPr id="9" name="Прямая со стрелкой 8"/>
          <p:cNvCxnSpPr>
            <a:cxnSpLocks/>
          </p:cNvCxnSpPr>
          <p:nvPr/>
        </p:nvCxnSpPr>
        <p:spPr bwMode="auto">
          <a:xfrm>
            <a:off x="3842501" y="2278064"/>
            <a:ext cx="1495043" cy="2524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 bwMode="auto">
          <a:xfrm>
            <a:off x="5437385" y="2014967"/>
            <a:ext cx="4791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Удаляем все возможные символы – «помехи», очищаем текст от стоп-слов (для этого все слова </a:t>
            </a:r>
            <a:r>
              <a:rPr lang="ru-RU"/>
              <a:t>лемматизируем</a:t>
            </a:r>
            <a:r>
              <a:rPr lang="ru-RU"/>
              <a:t> и ищем совпадения в списке стоп-слов </a:t>
            </a:r>
            <a:r>
              <a:rPr lang="en-US"/>
              <a:t>nltk</a:t>
            </a:r>
            <a:r>
              <a:rPr lang="ru-RU"/>
              <a:t>)</a:t>
            </a:r>
            <a:endParaRPr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756989" y="241419"/>
            <a:ext cx="6992528" cy="156382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781649" y="3425020"/>
            <a:ext cx="6216351" cy="18316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106325" y="5908730"/>
            <a:ext cx="373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После предобработки:</a:t>
            </a:r>
            <a:endParaRPr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805601" y="5615436"/>
            <a:ext cx="8895303" cy="1014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22089" y="196704"/>
            <a:ext cx="3359595" cy="2889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283535" y="903767"/>
            <a:ext cx="5277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Создаем новый </a:t>
            </a:r>
            <a:r>
              <a:rPr lang="ru-RU"/>
              <a:t>датафрейм</a:t>
            </a:r>
            <a:r>
              <a:rPr lang="ru-RU"/>
              <a:t>, куда добавляем </a:t>
            </a:r>
            <a:r>
              <a:rPr lang="ru-RU"/>
              <a:t>предобработанные</a:t>
            </a:r>
            <a:r>
              <a:rPr lang="ru-RU"/>
              <a:t> ревью и уже имеющиеся метки сентимента: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57496" y="2916558"/>
            <a:ext cx="4803332" cy="36298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6400800" y="4040371"/>
            <a:ext cx="5241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Создаем класс </a:t>
            </a:r>
            <a:r>
              <a:rPr lang="en-US"/>
              <a:t>IMDBDataset</a:t>
            </a:r>
            <a:r>
              <a:rPr lang="ru-RU"/>
              <a:t>, подготовить данные так, чтобы их можно было подавать в модель </a:t>
            </a:r>
            <a:r>
              <a:rPr lang="ru-RU"/>
              <a:t>батчами</a:t>
            </a:r>
            <a:r>
              <a:rPr lang="en-US"/>
              <a:t>, </a:t>
            </a:r>
            <a:r>
              <a:rPr lang="ru-RU"/>
              <a:t>т.к. </a:t>
            </a:r>
            <a:r>
              <a:rPr lang="ru-RU"/>
              <a:t>PyTorch</a:t>
            </a:r>
            <a:r>
              <a:rPr lang="ru-RU"/>
              <a:t> требует, чтобы данные хранились в специальном формате (</a:t>
            </a:r>
            <a:r>
              <a:rPr lang="en-US"/>
              <a:t>Dataset</a:t>
            </a:r>
            <a:r>
              <a:rPr lang="ru-RU"/>
              <a:t>) и также чтобы не </a:t>
            </a:r>
            <a:r>
              <a:rPr lang="ru-RU"/>
              <a:t>токенизировать</a:t>
            </a:r>
            <a:r>
              <a:rPr lang="ru-RU"/>
              <a:t> каждую строку вручную. Создаем затем </a:t>
            </a:r>
            <a:r>
              <a:rPr lang="ru-RU"/>
              <a:t>DataLoader</a:t>
            </a:r>
            <a:r>
              <a:rPr lang="ru-RU"/>
              <a:t>, который собирает данные в пакеты фиксированного размера.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7295707" cy="59180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Обучение и валидация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74156" y="1088875"/>
            <a:ext cx="4586941" cy="342076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97204" y="1088875"/>
            <a:ext cx="6020640" cy="40010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auto">
          <a:xfrm>
            <a:off x="474156" y="5089933"/>
            <a:ext cx="34492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Модель </a:t>
            </a:r>
            <a:r>
              <a:rPr lang="en-US"/>
              <a:t>BERT </a:t>
            </a:r>
            <a:r>
              <a:rPr lang="ru-RU"/>
              <a:t>обучалась 3 эпохи, при этом можно заметить, что ошибка с каждой эпохой уменьшалась, что свидетельствует об успешном обучении модели.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561368" y="5089933"/>
            <a:ext cx="76306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Результат валидации на тестовой выборке также очень хороший – 91%. Высокая точность может свидетельствовать о том, что данные относительно сбалансированы по классам (например, позитивные и негативные отзывы примерно одинаковы по количеству). Если бы данные были сильно </a:t>
            </a:r>
            <a:r>
              <a:rPr lang="ru-RU"/>
              <a:t>несбалансированы</a:t>
            </a:r>
            <a:r>
              <a:rPr lang="ru-RU"/>
              <a:t>, модель могла бы просто "предсказывать" доминирующий класс, и точность была бы завышена.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 этой части работы мы реализовали классификатор на основе модели BERT для задачи анализа настроений на наборе данных IMDB. Модель была настроена с использованием </a:t>
            </a:r>
            <a:r>
              <a:rPr lang="ru-RU"/>
              <a:t>предобученной</a:t>
            </a:r>
            <a:r>
              <a:rPr lang="ru-RU"/>
              <a:t> версии </a:t>
            </a:r>
            <a:r>
              <a:rPr lang="ru-RU"/>
              <a:t>BERTи</a:t>
            </a:r>
            <a:r>
              <a:rPr lang="ru-RU"/>
              <a:t> для обучения использовалась только последняя часть модели — классификатор (обучена была модель с использованием оптимизатора </a:t>
            </a:r>
            <a:r>
              <a:rPr lang="ru-RU"/>
              <a:t>AdamW</a:t>
            </a:r>
            <a:r>
              <a:rPr lang="ru-RU"/>
              <a:t> и функцией потерь </a:t>
            </a:r>
            <a:r>
              <a:rPr lang="ru-RU"/>
              <a:t>CrossEntropyLoss</a:t>
            </a:r>
            <a:r>
              <a:rPr lang="ru-RU"/>
              <a:t>). Точность на тестовых данных составила 91.85%, что является отличным результатом для задачи классификации текстов. Это подтверждает, что модель хорошо обучилась и способна делать точные прогнозы на новых данных.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Dasha</dc:creator>
  <cp:keywords/>
  <dc:description/>
  <dc:identifier/>
  <dc:language/>
  <cp:lastModifiedBy>Natalia Titova</cp:lastModifiedBy>
  <cp:revision>4</cp:revision>
  <dcterms:created xsi:type="dcterms:W3CDTF">2025-02-19T15:29:33Z</dcterms:created>
  <dcterms:modified xsi:type="dcterms:W3CDTF">2025-11-20T23:24:44Z</dcterms:modified>
  <cp:category/>
  <cp:contentStatus/>
  <cp:version/>
</cp:coreProperties>
</file>